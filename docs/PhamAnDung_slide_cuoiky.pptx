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82296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828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6858000" cy="3474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6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Nhận Diện</a:t>
            </a:r>
            <a:endParaRPr lang="en-US" sz="5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6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Cử Chỉ</a:t>
            </a:r>
            <a:endParaRPr lang="en-US" sz="5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6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Chào Xã Giao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" y="429768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Sử dụng Edge Impulse &amp; FOMO – MobileNetV2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92440" y="0"/>
            <a:ext cx="1051560" cy="51435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Tổng quan đề tài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Cơ sở lý thuyết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Phương pháp thực hiện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Kết quả thực nghiệm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Demo thời gian thực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Kết luận &amp; Hướng phát triển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3291840"/>
            <a:ext cx="37490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Nội dung</a:t>
            </a:r>
            <a:endParaRPr lang="en-US" sz="42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trình bày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"/>
            <a:ext cx="411480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Tổng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quan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đề tài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58825" y="3167380"/>
            <a:ext cx="502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🤚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61872" y="27432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Xin chào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29900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Vẫy tay chào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61872" y="32552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Tạm biệt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1872" y="35021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Vẫy tay từ biệt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825" y="3703193"/>
            <a:ext cx="502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👌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61872" y="37673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61872" y="401421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Ngón cái + ngón trỏ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279392"/>
            <a:ext cx="502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61872" y="42793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Không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45262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Lắc / xoay bàn tay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502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Lý do chọn đề tài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960120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Giao tiếp người-máy bằng cử chỉ ngày càng phổ biến trong IoT.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783080"/>
            <a:ext cx="36576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892808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TinyML cho phép AI chạy trực tiếp trên vi điều khiển nhúng.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2715768"/>
            <a:ext cx="36576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825496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Edge Impulse + FOMO: nhẹ, nhanh, không cần kết nối cloud.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3648456"/>
            <a:ext cx="36576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758184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Ứng dụng thực tiễn cao trong nhà thông minh và điều khiển thiết bị.</a:t>
            </a:r>
            <a:endParaRPr lang="en-US" sz="14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25" y="4239260"/>
            <a:ext cx="386080" cy="35433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15" y="2726690"/>
            <a:ext cx="267335" cy="328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Mục tiêu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Phạm vi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9202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9202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Xây dựng mô hình nhận diện 4 cử chỉ tay với F1 ≥ 0.85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46888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6517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65176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Nắm quy trình TinyML: thu thập → gán nhãn → train → deploy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3832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Triển khai WebAssembly, kiểm thử realtime trên trình duyệt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393192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11480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11480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Phạm vi: phòng lab, webcam, 1 người dùng, 200 mẫu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466344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Cơ sở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lý thuyết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828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TinyML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176272"/>
            <a:ext cx="2560320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267712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chạy trực tiếp trên vi điều khiển. RAM &lt; 1MB, không cần cloud. Giảm trễ và bảo vệ dữ liệu.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19272" y="1828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Edge Impulse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19272" y="2176272"/>
            <a:ext cx="2560320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2267712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Nền tảng ML nhúng end-to-end. Giao diện web: thu thập → train → deploy. Hỗ trợ Arduino, Cortex-M, WebAssembly.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27064" y="1828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27064" y="2176272"/>
            <a:ext cx="2560320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2267712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CNN tối ưu cho thiết bị nhúng. 96×96px, hệ số 0.35. Dùng depthwise separable convolution.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FOMO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730752"/>
            <a:ext cx="2560320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22192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Faster Objects, More Objects. Dự đoán theo lưới, không cần bounding box. Cortex-M4: 593ms, 228KB RAM.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9272" y="33832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Transfer Learning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19272" y="3730752"/>
            <a:ext cx="2560320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3822192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Dùng trọng số pre-trained từ ImageNet. 60 epochs, LR = 0.001, data augmentation bật.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27064" y="33832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Đánh giá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27064" y="3730752"/>
            <a:ext cx="2560320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3822192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Accuracy, F1-score, Confusion matrix, ROC AUC, Precision, Recall. Yêu cầu: F1 ≥ 0.85.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Phương pháp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thực hiện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82880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Clone Template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084832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FOMO #230968 từ Edge Impulse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Thu thập dữ liệu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724912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200 ảnh – 50 mẫu/nhãn – webcam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10896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Impulse Design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364992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Image → Transfer Learning (Images)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4904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Train Model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005072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60 cycles – LR 0.001 – augmentation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38912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43891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Deploy &amp; Test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645152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WebAssembly – Launch in browser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182880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Tổng mẫu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18288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200 ảnh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2468880"/>
            <a:ext cx="28346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578608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Mỗi nhãn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0" y="2578608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50 ảnh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3218688"/>
            <a:ext cx="28346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328416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Train/Test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3328416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80% / 20%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3968496"/>
            <a:ext cx="28346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4078224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Input size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0" y="4078224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96×96 px RGB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0" y="4718304"/>
            <a:ext cx="28346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Kiến trúc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hệ thống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11480" y="1737360"/>
            <a:ext cx="1965960" cy="1188720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37360"/>
            <a:ext cx="1965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Input Block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Image 96×96 RGB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194560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87752" y="1737360"/>
            <a:ext cx="19659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737360"/>
            <a:ext cx="1965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Processing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2194560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64024" y="1737360"/>
            <a:ext cx="1965960" cy="1188720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737360"/>
            <a:ext cx="1965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Transfer Learning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MobileNetV2 0.35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9984" y="2194560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40296" y="1737360"/>
            <a:ext cx="19659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0296" y="1737360"/>
            <a:ext cx="1965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Output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 Classes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Kiến trúc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24612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MobileNetV2 96×96 0.35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593592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57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Training cycles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65760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60 | LR: 0.001 | Augmentation: Bật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005072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6908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06908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EON Compiler (RAM optimized)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416552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4805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Cortex-M4F 80MHz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448056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593ms – RAM 228KB – Flash 546KB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4828032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Kết quả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thực nghiệm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87.5%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2487168"/>
            <a:ext cx="1417320" cy="91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54203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87752" y="169164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0.88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2862072" y="2487168"/>
            <a:ext cx="1417320" cy="91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254203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F1 Score TB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64024" y="169164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1.00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038344" y="2487168"/>
            <a:ext cx="1417320" cy="91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254203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ROC AUC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0296" y="169164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0.91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7214616" y="2487168"/>
            <a:ext cx="1417320" cy="91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254203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9260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Confusion Matrix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46120"/>
            <a:ext cx="3840480" cy="1645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754880" y="2926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F1-score theo nhãn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0" y="32918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TAMBIET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3364992"/>
            <a:ext cx="2011680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3364992"/>
            <a:ext cx="2011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21040" y="32918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1.00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54880" y="368503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17920" y="3758184"/>
            <a:ext cx="2011680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17920" y="3758184"/>
            <a:ext cx="1810512" cy="1828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21040" y="36850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754880" y="407822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XINCHAO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217920" y="4151376"/>
            <a:ext cx="2011680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17920" y="4151376"/>
            <a:ext cx="1730045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21040" y="407822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0.86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54880" y="44714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217920" y="4544568"/>
            <a:ext cx="2011680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17920" y="4544568"/>
            <a:ext cx="1669694" cy="1828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21040" y="447141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0.83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Phân tích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&amp; Thảo luận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TAMBIET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187452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1.00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26080" y="18745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Cử chỉ đặc trưng, nhận diện hoàn hảo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441448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XINCHAO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56032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0.86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0" y="25603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Tốt – một số mẫu NO bị nhầm sang nhãn này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127248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461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324612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32461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18.2% bị nhầm sang XINCHAO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813048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319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93192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0.83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26080" y="39319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28.6% bị nhầm sang XINCHAO – lỗi chính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498848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7200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Nguyên nhân lỗi chính: NO và XINCHAO đều là bàn tay mở → hình dạng tương tự.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Cần thu thêm mẫu NO đa dạng góc độ hơn để cải thiện.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Demo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thời gian thực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7830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Deployment → WebAssembly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28600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7744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Launch in browser → cho phép camera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88036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7180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97180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Thực hiện 4 cử chỉ trước webcam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347472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56616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56616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Quan sát kết quả nhận diện realtime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60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Project: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https://studio.edgeimpulse.com/studio/1013348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553712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Kết luận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Hướng phát triển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8321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Đã đạt được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103120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—  Accuracy 87.5% và F1 = 0.88 – đạt yêu cầu ≥ 0.85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505456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7860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—  Xây dựng thành công pipeline TinyML end-to-end trên Edge Impulse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80944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54096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—  Triển khai WebAssembly, kiểm thử realtime trên trình duyệt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456432"/>
            <a:ext cx="83210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611880"/>
            <a:ext cx="8321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Hướng phát triển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005072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→  Mở rộng cử chỉ: ngôn ngữ ký hiệu, số đếm 1–5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4325112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→  Đa người dùng, nhiều điều kiện ánh sáng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645152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→  Triển khai lên Arduino Nano 33 BLE Sense / Raspberry Pi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01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301752"/>
            <a:ext cx="64008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Tài liệu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tham khảo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[1]  Edge Impulse Inc., "Edge Impulse Documentation", 2024. https://docs.edgeimpulse.com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237744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46888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[2]  M. Sandler et al., "MobileNetV2: Inverted Residuals and Linear Bottlenecks", CVPR 2018.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97180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6324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[3]  P. Warden &amp; D. Situnayake, "TinyML: Machine Learning with TensorFlow Lite", O'Reilly, 2019.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56616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5760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[4]  Edge Impulse Inc., "FOMO: Faster Objects, More Objects", 2022. https://docs.edgeimpulse.com/fomo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16052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5196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[5]  V. J. Reddi et al., "MLPerf Inference Benchmark", ISCA 2020.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822960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Cảm ơn thầy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đã </a:t>
            </a:r>
            <a:r>
              <a:rPr lang="vi-VN" altLang="en-US" sz="52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xem</a:t>
            </a:r>
            <a:r>
              <a:rPr lang="en-US" sz="5200" dirty="0">
                <a:solidFill>
                  <a:srgbClr val="11111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 nghe!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85800" y="3566160"/>
            <a:ext cx="73152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70332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+mn-ea"/>
                <a:ea typeface="Georgia" panose="02040502050405020303" pitchFamily="34" charset="-122"/>
                <a:cs typeface="+mn-ea"/>
              </a:rPr>
              <a:t>Phạm An Dũng  |  N23DCCI018  |  D23CQCI01-N</a:t>
            </a:r>
            <a:endParaRPr lang="en-US" sz="1300" dirty="0">
              <a:solidFill>
                <a:srgbClr val="111111"/>
              </a:solidFill>
              <a:latin typeface="+mn-ea"/>
              <a:ea typeface="Georgia" panose="02040502050405020303" pitchFamily="34" charset="-122"/>
              <a:cs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GVHD: Hồ Nhựt Minh  |  Mạng Cảm Biến – HK2 2024–2025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4434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https://studio.edgeimpulse.com/studio/1013348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3744</Words>
  <Application>WPS Presentation</Application>
  <PresentationFormat>On-screen Show (16:9)</PresentationFormat>
  <Paragraphs>346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Dũng Phạm An</cp:lastModifiedBy>
  <cp:revision>7</cp:revision>
  <dcterms:created xsi:type="dcterms:W3CDTF">2026-06-07T05:05:00Z</dcterms:created>
  <dcterms:modified xsi:type="dcterms:W3CDTF">2026-06-07T15:21:38Z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C4B91FA2E6894A9D8803F03083DE5A1D_13</vt:lpwstr>
  </property>
  <property fmtid="{D5CDD505-2E9C-101B-9397-08002B2CF9AE}" pid="3" name="KSOProductBuildVer">
    <vt:lpwstr>1033-12.1.0.26880</vt:lpwstr>
  </property>
</Properties>
</file>