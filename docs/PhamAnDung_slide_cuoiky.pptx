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92608"/>
            <a:ext cx="822960" cy="1828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371600" y="182880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6858000" cy="3474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Nhận Diện</a:t>
            </a:r>
            <a:endParaRPr lang="en-US" sz="5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Cử Chỉ</a:t>
            </a:r>
            <a:endParaRPr lang="en-US" sz="5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Chào Xã Giao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11480" y="429768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Sử dụng Edge Impulse &amp; FOMO – MobileNetV2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092440" y="0"/>
            <a:ext cx="105156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5029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Tổng quan đề tài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0584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Cơ sở lý thuyết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150876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Phương pháp thực hiện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" y="201168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quả thực nghiệm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480" y="251460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Demo thời gian thực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11480" y="30175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luận &amp; Hướng phát triển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0" y="3291840"/>
            <a:ext cx="374904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Nội dung</a:t>
            </a:r>
            <a:endParaRPr lang="en-US" sz="4200" dirty="0"/>
          </a:p>
          <a:p>
            <a:pPr marL="0" indent="0" algn="r">
              <a:lnSpc>
                <a:spcPct val="110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trình bày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03</a:t>
            </a:r>
            <a:endParaRPr lang="en-US" sz="1100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182880"/>
            <a:ext cx="4114800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Tổng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quan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đề tài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8825" y="3167380"/>
            <a:ext cx="5029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🤚</a:t>
            </a:r>
            <a:endParaRPr lang="en-US" sz="20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61872" y="2743200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Xin chào</a:t>
            </a:r>
            <a:endParaRPr lang="en-US" sz="1400" b="1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261872" y="29900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Vẫy tay chào</a:t>
            </a:r>
            <a:endParaRPr lang="en-US" sz="1100" dirty="0">
              <a:solidFill>
                <a:srgbClr val="888888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61872" y="3255264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Tạm biệt</a:t>
            </a:r>
            <a:endParaRPr lang="en-US" sz="1400" b="1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61872" y="35021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Vẫy tay từ biệt</a:t>
            </a:r>
            <a:endParaRPr lang="en-US" sz="1100" dirty="0">
              <a:solidFill>
                <a:srgbClr val="888888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58825" y="3703193"/>
            <a:ext cx="5029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👌</a:t>
            </a:r>
            <a:endParaRPr lang="en-US" sz="20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261872" y="3767328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OK</a:t>
            </a:r>
            <a:endParaRPr lang="en-US" sz="1400" b="1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61872" y="401421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Ngón cái + ngón trỏ</a:t>
            </a:r>
            <a:endParaRPr lang="en-US" sz="1100" dirty="0">
              <a:solidFill>
                <a:srgbClr val="888888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4279392"/>
            <a:ext cx="5029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</a:rPr>
              <a:t>️</a:t>
            </a:r>
            <a:endParaRPr lang="en-US" sz="2000" dirty="0">
              <a:solidFill>
                <a:srgbClr val="000000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61872" y="4279392"/>
            <a:ext cx="13716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Không</a:t>
            </a:r>
            <a:endParaRPr lang="en-US" sz="1400" b="1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261872" y="452628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Lắc / xoay bàn tay</a:t>
            </a:r>
            <a:endParaRPr lang="en-US" sz="1100" dirty="0">
              <a:solidFill>
                <a:srgbClr val="888888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029200" y="5029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Lý do chọn đề tài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9601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Giao tiếp người-máy bằng cử chỉ ngày càng phổ biến trong IoT.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1783080"/>
            <a:ext cx="365760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029200" y="1892808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TinyML cho phép AI chạy trực tiếp trên vi điều khiển nhúng.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0" y="2715768"/>
            <a:ext cx="365760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029200" y="2825496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Edge Impulse + FOMO: nhẹ, nhanh, không cần kết nối cloud.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0" y="3648456"/>
            <a:ext cx="365760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>
            <a:endParaRPr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29200" y="3758184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Ứng dụng thực tiễn cao trong nhà thông minh và điều khiển thiết bị.</a:t>
            </a:r>
            <a:endParaRPr lang="en-US" sz="1400" dirty="0"/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25" y="4239260"/>
            <a:ext cx="386080" cy="354330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15" y="2726690"/>
            <a:ext cx="267335" cy="3289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274320"/>
            <a:ext cx="45720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Mục tiêu &amp;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Phạm vi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92024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Xây dựng mô hình nhận diện 4 cử chỉ tay: Xin chào, Tạm biệt, OK và Không</a:t>
            </a:r>
            <a:endParaRPr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246888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1480" y="265176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65176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Nắm quy trình TinyML: thu thập → gán nhãn → train → deploy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11480" y="320040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" y="338328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338328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Triển khai WebAssembly, kiểm thử realtime trên trình duyệt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1480" y="393192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11480" y="411480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51560" y="411480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Phạm vi: phòng lab, webcam, 1 người dùng, 200 mẫu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1480" y="466344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36576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Cơ sở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lý thuyết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288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TinyML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217627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226771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AI chạy trực tiếp trên vi điều khiển. RAM &lt; 1MB, không cần cloud. Giảm trễ và bảo vệ dữ liệu.</a:t>
            </a:r>
            <a:endParaRPr lang="en-US" sz="14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319272" y="18288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Edge Impulse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19272" y="217627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19272" y="226771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Nền tảng ML nhúng end-to-end. Giao diện web: thu thập → train → deploy. Hỗ trợ Arduino, Cortex-M, WebAssembly.</a:t>
            </a:r>
            <a:endParaRPr lang="en-US" sz="14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227064" y="18288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MobileNetV2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217627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27064" y="226771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CNN tối ưu cho thiết bị nhúng. 96×96px, hệ số 0.35. Dùng depthwise separable convolution.</a:t>
            </a:r>
            <a:endParaRPr lang="en-US" sz="1400" dirty="0">
              <a:solidFill>
                <a:schemeClr val="tx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" y="3383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FOMO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373075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11480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Faster Objects, More Objects. Dự đoán theo lưới, không cần bounding box. Cortex-M4: 593ms, 228KB RAM.</a:t>
            </a:r>
            <a:endParaRPr lang="en-US" sz="14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19272" y="3383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Transfer Learning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19272" y="373075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319272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Dùng trọng số pre-trained từ ImageNet. 60 epochs, LR = 0.001, data augmentation bật</a:t>
            </a: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27064" y="3383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Đánh giá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27064" y="3730752"/>
            <a:ext cx="2560320" cy="914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27064" y="3822192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sz="1400">
                <a:latin typeface="Times New Roman" panose="02020603050405020304" charset="0"/>
                <a:cs typeface="Times New Roman" panose="02020603050405020304" charset="0"/>
              </a:rPr>
              <a:t>Accuracy, F1-score, Confusion matrix, ROC AUC, Precision, Recall. Yêu cầu: F1 ≥ 0.85.</a:t>
            </a:r>
            <a:endParaRPr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Phương pháp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thực hiện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2880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Clone Template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08483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FOMO #230968 từ Edge Impulse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246888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46888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Thu thập dữ liệu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200 ảnh – 50 mẫu/nhãn – webcam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310896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310896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Impulse Design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97280" y="336499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Image → Transfer Learning (Images)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74904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374904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Train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400507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60 cycles – LR 0.001 – augmentation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" y="4389120"/>
            <a:ext cx="5943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4389120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Deploy &amp; Test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64515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WebAssembly – Launch in 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1828800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Tổng mẫu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1828800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200 ảnh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43600" y="2468880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0" y="257860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Mỗi nhãn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680960" y="2578608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50 ảnh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943600" y="3218688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943600" y="332841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Train/Test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0" y="3328416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80% / 20%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3968496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0" y="407822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Input size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80960" y="4078224"/>
            <a:ext cx="10972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96×96 px RGB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0" y="4718304"/>
            <a:ext cx="28346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Kiến trúc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hệ thống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11480" y="1737360"/>
            <a:ext cx="1965960" cy="1188720"/>
          </a:xfrm>
          <a:prstGeom prst="rect">
            <a:avLst/>
          </a:prstGeom>
          <a:solidFill>
            <a:srgbClr val="111111"/>
          </a:solidFill>
          <a:ln w="1905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Input Block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Image 96×96 RGB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77440" y="2194560"/>
            <a:ext cx="2103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87752" y="1737360"/>
            <a:ext cx="19659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587752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Processing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53712" y="2194560"/>
            <a:ext cx="2103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764024" y="1737360"/>
            <a:ext cx="1965960" cy="1188720"/>
          </a:xfrm>
          <a:prstGeom prst="rect">
            <a:avLst/>
          </a:prstGeom>
          <a:solidFill>
            <a:srgbClr val="111111"/>
          </a:solidFill>
          <a:ln w="1905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64024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Transfer Learning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MobileNetV2 0.35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29984" y="2194560"/>
            <a:ext cx="21031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940296" y="1737360"/>
            <a:ext cx="196596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40296" y="1737360"/>
            <a:ext cx="196596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Output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 Classes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Kiến trúc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834640" y="324612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MobileNetV2 96×96 0.35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359359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11480" y="365760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Training cycles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365760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60 | LR: 0.001 | Augmentation: Bật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00507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11480" y="406908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Engine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06908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EON Compiler (RAM optimized)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41655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11480" y="4480560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Cortex-M4F 80MHz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834640" y="4480560"/>
            <a:ext cx="5943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593ms – RAM 228KB – Flash 546KB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" y="482803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201295"/>
            <a:ext cx="33020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Kết quả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thực nghiệm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572895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87.5%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31190" y="234111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235026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Accuracy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607" y="2423160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0.88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31317" y="305866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1607" y="311861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F1 Score TB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734" y="3154045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1.00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631444" y="3854323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734" y="3886962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ROC AUC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226" y="3886835"/>
            <a:ext cx="19659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0.91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" y="4553458"/>
            <a:ext cx="1417320" cy="9144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11226" y="4564507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55110" y="91821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Confusion Matrix</a:t>
            </a:r>
            <a:endParaRPr lang="en-US" sz="12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5110" y="1261745"/>
            <a:ext cx="3840480" cy="16459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055110" y="297688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F1-score theo nhãn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055110" y="325247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TAMBIET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780280" y="3320542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4780280" y="3320542"/>
            <a:ext cx="201168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791960" y="3225165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1.00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055110" y="3572637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OK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80280" y="3678174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4780280" y="3678174"/>
            <a:ext cx="1810512" cy="18288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6791960" y="354533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0.90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055110" y="3862959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XINCHAO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780280" y="3961511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4780280" y="3961511"/>
            <a:ext cx="1730045" cy="182880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6791960" y="3865499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0.86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055110" y="4134866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9999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NO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780280" y="4245483"/>
            <a:ext cx="2011680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4780280" y="4245483"/>
            <a:ext cx="1669694" cy="18288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6791960" y="4141851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0.83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Phân tích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&amp; Thảo luận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11480" y="18745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TAMBIET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920240" y="18745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1.00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926080" y="18745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Cử chỉ đặc trưng, nhận diện hoàn hảo</a:t>
            </a:r>
            <a:endParaRPr lang="en-US" sz="12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11480" y="24414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11480" y="25603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XINCHAO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920240" y="25603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0.86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26080" y="25603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Tốt – một số mẫu NO bị nhầm sang nhãn này</a:t>
            </a:r>
            <a:endParaRPr lang="en-US" sz="12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" y="31272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32461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20240" y="32461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0.90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926080" y="32461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18.2% bị nhầm sang XINCHAO</a:t>
            </a:r>
            <a:endParaRPr lang="en-US" sz="12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11480" y="38130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1480" y="39319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931920"/>
            <a:ext cx="822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0.83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926080" y="3931920"/>
            <a:ext cx="58521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28.6% bị nhầm sang XINCHAO – lỗi chính</a:t>
            </a:r>
            <a:endParaRPr lang="en-US" sz="12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11480" y="4498848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11480" y="4572000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Nguyên nhân lỗi chính: NO và XINCHAO đều là bàn tay mở → hình dạng tương tự.</a:t>
            </a:r>
            <a:endParaRPr lang="en-US" sz="1100" dirty="0">
              <a:solidFill>
                <a:schemeClr val="tx1"/>
              </a:solidFill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chemeClr val="tx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Cần thu thêm mẫu NO đa dạng góc độ hơn để cải thiện.</a:t>
            </a:r>
            <a:endParaRPr lang="en-US" sz="1100" dirty="0">
              <a:solidFill>
                <a:schemeClr val="tx1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Demo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thời gian thực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178308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178308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Deployment → WebAssembly → Build</a:t>
            </a: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228600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1480" y="237744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3774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Launch in browser → cho phép camera</a:t>
            </a:r>
            <a:endParaRPr lang="en-US" sz="16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" y="297180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297180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Thực hiện 4 cử chỉ trước webcam</a:t>
            </a:r>
            <a:endParaRPr lang="en-US" sz="1600" dirty="0">
              <a:solidFill>
                <a:srgbClr val="FFFFFF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11480" y="347472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11480" y="3566160"/>
            <a:ext cx="594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356616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Quan sát kết quả nhận diện realtime</a:t>
            </a:r>
            <a:endParaRPr lang="en-US" sz="1600" dirty="0">
              <a:solidFill>
                <a:srgbClr val="FFFFFF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11480" y="406908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11480" y="4160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Project: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17320" y="41605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https://studio.edgeimpulse.com/studio/1013348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11480" y="4553712"/>
            <a:ext cx="8321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Kết luận &amp;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Hướng phát triển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1691640"/>
            <a:ext cx="8321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Đã đạt được</a:t>
            </a:r>
            <a:endParaRPr lang="en-US" sz="1200" dirty="0">
              <a:solidFill>
                <a:schemeClr val="tx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11480" y="2103120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— 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Accuracy 87.5% và F1 = 0.88 – đạt yêu cầu ≥ 0.85</a:t>
            </a:r>
            <a:endParaRPr lang="en-US" sz="1400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1480" y="2505456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11480" y="2578608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— 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Xây dựng thành công pipeline TinyML end-to-end trên Edge Impulse</a:t>
            </a:r>
            <a:endParaRPr lang="en-US" sz="1400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11480" y="2980944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1480" y="3054096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—  </a:t>
            </a:r>
            <a:r>
              <a:rPr lang="en-US" sz="14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Triển khai WebAssembly, kiểm thử realtime trên trình duyệt</a:t>
            </a:r>
            <a:endParaRPr lang="en-US" sz="1400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11480" y="3456432"/>
            <a:ext cx="8321040" cy="914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11480" y="3611880"/>
            <a:ext cx="8321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Hướng phát triển</a:t>
            </a:r>
            <a:endParaRPr lang="en-US" sz="1200" dirty="0">
              <a:solidFill>
                <a:schemeClr val="tx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11480" y="4005072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  </a:t>
            </a:r>
            <a:r>
              <a:rPr lang="en-US" sz="1250" dirty="0">
                <a:solidFill>
                  <a:schemeClr val="tx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Mở rộng cử chỉ: ngôn ngữ ký hiệu, số đếm 1–5</a:t>
            </a:r>
            <a:endParaRPr lang="en-US" sz="1250" dirty="0">
              <a:solidFill>
                <a:schemeClr val="tx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11480" y="4325112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  </a:t>
            </a:r>
            <a:r>
              <a:rPr lang="en-US" sz="1250" dirty="0">
                <a:solidFill>
                  <a:schemeClr val="tx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Đa người dùng, nhiều điều kiện ánh sáng</a:t>
            </a:r>
            <a:endParaRPr lang="en-US" sz="1250" dirty="0">
              <a:solidFill>
                <a:schemeClr val="tx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1480" y="4645152"/>
            <a:ext cx="83210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888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→  </a:t>
            </a:r>
            <a:r>
              <a:rPr lang="en-US" sz="1250" dirty="0">
                <a:solidFill>
                  <a:schemeClr val="tx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Triển khai lên Arduino Nano 33 BLE Sense / Raspberry Pi</a:t>
            </a:r>
            <a:endParaRPr lang="en-US" sz="1250" dirty="0">
              <a:solidFill>
                <a:schemeClr val="tx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0116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321040" y="301752"/>
            <a:ext cx="640080" cy="18288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11480" y="182880"/>
            <a:ext cx="832104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Tài liệu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FFFFFF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tham khảo</a:t>
            </a:r>
            <a:endParaRPr lang="en-US" sz="4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11480" y="187452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[1]  Edge Impulse Inc., "Edge Impulse Documentation", 2024. https://docs.edgeimpulse.com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" y="237744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11480" y="246888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[2]  M. Sandler et al., "MobileNetV2: Inverted Residuals and Linear Bottlenecks", CVPR 2018.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297180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11480" y="306324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[3]  P. Warden &amp; D. Situnayake, "TinyML: Machine Learning with TensorFlow Lite", O'Reilly, 2019.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356616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" y="365760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[4]  Edge Impulse Inc., "FOMO: Faster Objects, More Objects", 2022. https://docs.edgeimpulse.com/fomo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416052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11480" y="4251960"/>
            <a:ext cx="83210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AAAA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[5]  V. J. Reddi et al., "MLPerf Inference Benchmark", ISCA 2020.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4754880"/>
            <a:ext cx="832104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85800" y="822960"/>
            <a:ext cx="8229600" cy="2560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Cảm ơn thầy</a:t>
            </a:r>
            <a:endParaRPr lang="en-US" sz="5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đã </a:t>
            </a:r>
            <a:r>
              <a:rPr lang="vi-VN" alt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xem</a:t>
            </a:r>
            <a:r>
              <a:rPr lang="en-US" sz="5200" dirty="0">
                <a:solidFill>
                  <a:srgbClr val="11111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!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7315200" cy="1828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3703320"/>
            <a:ext cx="82296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Phạm An Dũng  |  N23DCCI018  |  D23CQCI01-N</a:t>
            </a:r>
            <a:endParaRPr lang="en-US" sz="1300" dirty="0">
              <a:solidFill>
                <a:srgbClr val="111111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85800" y="4069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GVHD: Hồ Nhựt Minh  |  Mạng Cảm Biến – HK2 202</a:t>
            </a:r>
            <a:r>
              <a:rPr lang="vi-VN" altLang="en-US" sz="12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5</a:t>
            </a:r>
            <a:r>
              <a:rPr lang="en-US" sz="12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–202</a:t>
            </a:r>
            <a:r>
              <a:rPr lang="vi-VN" altLang="en-US" sz="1200" dirty="0">
                <a:solidFill>
                  <a:srgbClr val="888888"/>
                </a:solidFill>
                <a:latin typeface="Times New Roman" panose="02020603050405020304" charset="0"/>
                <a:ea typeface="Georgia" panose="02040502050405020303" pitchFamily="34" charset="-122"/>
                <a:cs typeface="Times New Roman" panose="02020603050405020304" charset="0"/>
              </a:rPr>
              <a:t>6</a:t>
            </a:r>
            <a:endParaRPr lang="vi-VN" altLang="en-US" sz="1200" dirty="0">
              <a:solidFill>
                <a:srgbClr val="888888"/>
              </a:solidFill>
              <a:latin typeface="Times New Roman" panose="02020603050405020304" charset="0"/>
              <a:ea typeface="Georgia" panose="02040502050405020303" pitchFamily="34" charset="-122"/>
              <a:cs typeface="Times New Roman" panose="0202060305040502030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85800" y="44348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https://studio.edgeimpulse.com/studio/1013348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3758</Words>
  <Application>WPS Presentation</Application>
  <PresentationFormat>On-screen Show (16:9)</PresentationFormat>
  <Paragraphs>346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SimSun</vt:lpstr>
      <vt:lpstr>Wingdings</vt:lpstr>
      <vt:lpstr>Georgia</vt:lpstr>
      <vt:lpstr>Georgia</vt:lpstr>
      <vt:lpstr>Georgia</vt:lpstr>
      <vt:lpstr>Calibri</vt:lpstr>
      <vt:lpstr>Microsoft YaHei</vt:lpstr>
      <vt:lpstr>Arial Unicode MS</vt:lpstr>
      <vt:lpstr>Times New Roman</vt:lpstr>
      <vt:lpstr>time</vt:lpstr>
      <vt:lpstr>Segoe Print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Dũng Phạm An</cp:lastModifiedBy>
  <cp:revision>11</cp:revision>
  <dcterms:created xsi:type="dcterms:W3CDTF">2026-06-07T05:05:00Z</dcterms:created>
  <dcterms:modified xsi:type="dcterms:W3CDTF">2026-06-10T16:43:37Z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7B7C340414A34A2D8C4A921D0834BF11_13</vt:lpwstr>
  </property>
  <property fmtid="{D5CDD505-2E9C-101B-9397-08002B2CF9AE}" pid="3" name="KSOProductBuildVer">
    <vt:lpwstr>1033-12.1.0.26880</vt:lpwstr>
  </property>
</Properties>
</file>