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9" r:id="rId14"/>
    <p:sldId id="266" r:id="rId15"/>
    <p:sldId id="267" r:id="rId16"/>
    <p:sldId id="268" r:id="rId1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HỌC VIỆN CÔNG NGHỆ BƯU CHÍNH VIỄN THÔNG – CƠ SỞ TP.HCM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914400"/>
            <a:ext cx="8503920" cy="1920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NHẬN DIỆN CỬ CHỈ</a:t>
            </a:r>
            <a:endParaRPr lang="en-US" sz="4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CHÀO XÃ GIAO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320040" y="2926080"/>
            <a:ext cx="8503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Sử dụng Edge Impulse &amp; FOMO | MobileNetV2 96×96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" y="3429000"/>
            <a:ext cx="32004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3566160"/>
            <a:ext cx="850392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Sinh viên:  </a:t>
            </a: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Phạm An Dũng  |  N23DCCI018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Lớp: </a:t>
            </a: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D23CQCI01-N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GVHD: </a:t>
            </a: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Hồ Nhựt Minh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Học kỳ 2 – Năm học 202</a:t>
            </a:r>
            <a:r>
              <a:rPr lang="vi-VN" altLang="en-US" sz="14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r>
              <a:rPr lang="en-US" sz="14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–202</a:t>
            </a:r>
            <a:r>
              <a:rPr lang="vi-VN" altLang="en-US" sz="14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vi-VN" altLang="en-US" sz="1400" dirty="0">
              <a:solidFill>
                <a:srgbClr val="64748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NỘI DUNG TRÌNH BÀY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5029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886968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Tổng quan đề tài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1143000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Lý do chọn, mục tiêu, phạm vi nghiên cứu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554480"/>
            <a:ext cx="5029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5544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1572768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Cơ sở lý thuyết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1828800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TinyML, Edge Impulse, MobileNetV2, FOMO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240280"/>
            <a:ext cx="5029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2402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05840" y="2258568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Phương pháp thực hiện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05840" y="2514600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Thu thập dữ liệu, thiết kế Impulse pipeline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5029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260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5840" y="2944368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Kết quả thực nghiệm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3200400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Accuracy 87.5%, F1 = 0.88, Confusion matrix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611880"/>
            <a:ext cx="5029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6118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05840" y="3630168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Demo thời gian thực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05840" y="3886200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WebAssembly, kiểm thử trên trình duyệt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4297680"/>
            <a:ext cx="5029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2976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05840" y="4315968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Kết luận &amp; Hướng phát triển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05840" y="4572000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Tổng kết và đề xuất cải tiến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TỔNG QUAN ĐỀ TÀI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0233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822960"/>
            <a:ext cx="402336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2296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Lý do chọn đề tài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234440"/>
            <a:ext cx="3749040" cy="237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Giao tiếp người-máy bằng cử chỉ ngày càng phổ biến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TinyML cho phép AI chạy trực tiếp trên thiết bị nhúng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Edge Impulse + FOMO: nhẹ, nhanh, không cần cloud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Ứng dụng thực tiễn cao trong nhà thông minh, IoT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69815" y="822960"/>
            <a:ext cx="40233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822960"/>
            <a:ext cx="402336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82296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cử chỉ nhận diện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2002917"/>
            <a:ext cx="54864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🖐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577840" y="128930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Xin chào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577840" y="1563624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Vẫy tay chào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61785" y="1897634"/>
            <a:ext cx="54864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577840" y="209397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Tạm biệt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77840" y="2368296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Vẫy tay từ biệt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37760" y="2807081"/>
            <a:ext cx="54864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👌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77840" y="2898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577840" y="3172968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Ngón cái + ngón trỏ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3675888"/>
            <a:ext cx="54864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577840" y="370332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Không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577840" y="3977640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Lắc / xoay bàn tay</a:t>
            </a:r>
            <a:endParaRPr lang="en-US" sz="1100" dirty="0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69815" y="1216660"/>
            <a:ext cx="708025" cy="575945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300" y="3703320"/>
            <a:ext cx="342265" cy="3346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MỤC TIÊU &amp; PHẠM VI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0972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43000" y="10515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Xây dựng mô hình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1435608"/>
            <a:ext cx="31546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Huấn luyện mô hình nhận diện 4 cử chỉ với F1 ≥ 0.85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868680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0972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🔧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577840" y="10515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Nắm quy trình TinyML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577840" y="1435608"/>
            <a:ext cx="31546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Thu thập → Gán nhãn → Pipeline → Train → Deploy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926080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3154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143000" y="31089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Triển khai thực tế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3493008"/>
            <a:ext cx="31546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WebAssembly + kiểm thử realtime trên trình duyệt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2926080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3154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577840" y="31089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Đánh giá định lượng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577840" y="3493008"/>
            <a:ext cx="31546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Accuracy, F1-score, Confusion matrix, ROC AUC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4617720"/>
            <a:ext cx="85953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617720"/>
            <a:ext cx="84124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Phạm vi: môi trường phòng lab, webcam máy tính, 1 người dùng, 200 mẫu, nền đơn giản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CƠ SỞ LÝ THUYẾT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8346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822960"/>
            <a:ext cx="283464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22960"/>
            <a:ext cx="265176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TinyML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234440"/>
            <a:ext cx="2651760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 chạy trực tiếp trên vi điều khiển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RAM &lt; 1MB, không cần cloud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Giảm trễ, tiết kiệm điện, bảo mật cao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822960"/>
            <a:ext cx="28346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822960"/>
            <a:ext cx="283464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822960"/>
            <a:ext cx="265176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Edge Impulse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37560" y="1234440"/>
            <a:ext cx="2651760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Nền tảng phát triển ML nhúng end-to-end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Giao diện web: thu thập → train → deploy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Hỗ trợ Arduino, Cortex-M, WebAssembly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822960"/>
            <a:ext cx="28346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822960"/>
            <a:ext cx="2834640" cy="347472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822960"/>
            <a:ext cx="265176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MobileNetV2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09360" y="1234440"/>
            <a:ext cx="2651760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CNN tối ưu cho thiết bị nhúng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Depthwise separable convolution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96×96px, hệ số 0.35 → nhẹ, nhanh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743200"/>
            <a:ext cx="28346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2743200"/>
            <a:ext cx="2834640" cy="34747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743200"/>
            <a:ext cx="265176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FOMO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" y="3154680"/>
            <a:ext cx="2651760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Faster Objects, More Objects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Lưới dự đoán, không vẽ bounding box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Cortex-M4: 593ms, RAM 228KB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46120" y="2743200"/>
            <a:ext cx="28346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2743200"/>
            <a:ext cx="283464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2743200"/>
            <a:ext cx="265176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Transfer Learning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37560" y="3154680"/>
            <a:ext cx="2651760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Dùng trọng số pre-trained từ ImageNet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Giảm thời gian train &amp; dữ liệu cần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Fine-tune 60 epochs, LR = 0.001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2743200"/>
            <a:ext cx="28346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2743200"/>
            <a:ext cx="283464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2743200"/>
            <a:ext cx="265176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Đánh giá mô hình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09360" y="3154680"/>
            <a:ext cx="2651760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Accuracy, F1-score, Confusion matrix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ROC AUC, Precision, Recall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Yêu cầu: F1 ≥ 0.85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PHƯƠNG PHÁP THỰC HIỆN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41732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0"/>
            <a:ext cx="1417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1417320" cy="18288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353312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Clone Template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" y="1719072"/>
            <a:ext cx="141732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2EBF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FOMO #230968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B2EBF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Edge Impulse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91640" y="1572768"/>
            <a:ext cx="32004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11680" y="914400"/>
            <a:ext cx="141732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0" y="914400"/>
            <a:ext cx="1417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011680" y="1325880"/>
            <a:ext cx="1417320" cy="18288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11680" y="1353312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Thu thập dữ liệu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11680" y="1719072"/>
            <a:ext cx="141732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2EBF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 ảnh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B2EBF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 mẫu/nhãn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429000" y="1572768"/>
            <a:ext cx="32004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49040" y="914400"/>
            <a:ext cx="141732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49040" y="914400"/>
            <a:ext cx="1417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749040" y="1325880"/>
            <a:ext cx="1417320" cy="18288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49040" y="1353312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Impulse Design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49040" y="1719072"/>
            <a:ext cx="141732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2EBF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Image → Transfer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B2EBF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Learning (Images)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166360" y="1572768"/>
            <a:ext cx="32004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0" y="914400"/>
            <a:ext cx="141732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0" y="914400"/>
            <a:ext cx="1417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486400" y="1325880"/>
            <a:ext cx="1417320" cy="18288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0" y="1353312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 Model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0" y="1719072"/>
            <a:ext cx="141732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2EBF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 cycles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B2EBF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LR = 0.001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903720" y="1572768"/>
            <a:ext cx="32004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23760" y="914400"/>
            <a:ext cx="141732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23760" y="914400"/>
            <a:ext cx="1417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223760" y="1325880"/>
            <a:ext cx="1417320" cy="18288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3760" y="1353312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Evaluate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223760" y="1719072"/>
            <a:ext cx="141732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2EBF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Confusion matrix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B2EBF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F1-score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74320" y="2606040"/>
            <a:ext cx="8595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Chi tiết thu thập dữ liệu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74320" y="2971800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" y="2971800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 ảnh tổng cộng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788920" y="2971800"/>
            <a:ext cx="15087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 ảnh × 4 nhãn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709160" y="2971800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46320" y="2971800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 / Test split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223760" y="2971800"/>
            <a:ext cx="15087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 / 20%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74320" y="3611880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3611880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Input size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788920" y="3611880"/>
            <a:ext cx="15087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96 × 96 px RGB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709160" y="3611880"/>
            <a:ext cx="4160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46320" y="3611880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augmentation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223760" y="3611880"/>
            <a:ext cx="15087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Bật (flip, rotate)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KIẾN TRÚC HỆ THỐNG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783080" cy="1645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17830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Block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737360"/>
            <a:ext cx="1508760" cy="18288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64792"/>
            <a:ext cx="178308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Image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96×96 RGB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40280" y="1691640"/>
            <a:ext cx="320040" cy="91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0" y="914400"/>
            <a:ext cx="1783080" cy="1645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960120"/>
            <a:ext cx="17830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Processing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Block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97480" y="1737360"/>
            <a:ext cx="1508760" cy="18288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0" y="1764792"/>
            <a:ext cx="178308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Image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Normalize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43400" y="1691640"/>
            <a:ext cx="320040" cy="91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914400"/>
            <a:ext cx="1783080" cy="164592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960120"/>
            <a:ext cx="17830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Learning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Block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00600" y="1737360"/>
            <a:ext cx="1508760" cy="18288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1764792"/>
            <a:ext cx="178308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Transfer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Learning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46520" y="1691640"/>
            <a:ext cx="320040" cy="91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0" y="914400"/>
            <a:ext cx="1783080" cy="16459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0" y="960120"/>
            <a:ext cx="17830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Output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Layer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03720" y="1737360"/>
            <a:ext cx="1508760" cy="18288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1764792"/>
            <a:ext cx="178308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Classes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Softmax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74320" y="278892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Thông số mô hình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315468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154680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Kiến trúc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965960" y="3154680"/>
            <a:ext cx="21945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MobileNetV2 96×96 0.35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4320" y="3630168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3630168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Final layer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965960" y="3630168"/>
            <a:ext cx="21945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 neurons, 0.1 dropout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4105656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" y="4105656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Training cycles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965960" y="4105656"/>
            <a:ext cx="21945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 | Learning rate: 0.001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4581144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480" y="4581144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Inference engine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965960" y="4581144"/>
            <a:ext cx="21945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EON Compiler (RAM optimized)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0" y="2788920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Hiệu suất on-device (Cortex-M4F 80MHz)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572000" y="3154680"/>
            <a:ext cx="1389888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0" y="3154680"/>
            <a:ext cx="1389888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0" y="3154680"/>
            <a:ext cx="138988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Inferencing Time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572000" y="3493008"/>
            <a:ext cx="1389888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⏱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4572000" y="4069080"/>
            <a:ext cx="138988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593 ms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6053328" y="3154680"/>
            <a:ext cx="1389888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53328" y="3154680"/>
            <a:ext cx="1389888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53328" y="3154680"/>
            <a:ext cx="138988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Peak RAM Usage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053328" y="3493008"/>
            <a:ext cx="1389888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💾</a:t>
            </a:r>
            <a:endParaRPr lang="en-US" sz="2400" dirty="0"/>
          </a:p>
        </p:txBody>
      </p:sp>
      <p:sp>
        <p:nvSpPr>
          <p:cNvPr id="46" name="Text 44"/>
          <p:cNvSpPr/>
          <p:nvPr/>
        </p:nvSpPr>
        <p:spPr>
          <a:xfrm>
            <a:off x="6053328" y="4069080"/>
            <a:ext cx="138988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228.0 KB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7534656" y="3154680"/>
            <a:ext cx="1389888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534656" y="3154680"/>
            <a:ext cx="1389888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34656" y="3154680"/>
            <a:ext cx="138988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Flash Usage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34656" y="3493008"/>
            <a:ext cx="1389888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📦</a:t>
            </a:r>
            <a:endParaRPr lang="en-US" sz="2400" dirty="0"/>
          </a:p>
        </p:txBody>
      </p:sp>
      <p:sp>
        <p:nvSpPr>
          <p:cNvPr id="51" name="Text 49"/>
          <p:cNvSpPr/>
          <p:nvPr/>
        </p:nvSpPr>
        <p:spPr>
          <a:xfrm>
            <a:off x="7534656" y="4069080"/>
            <a:ext cx="138988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546.2 KB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KẾT QUẢ THỰC NGHIỆM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1993392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04672"/>
            <a:ext cx="199339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87.5%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74320" y="1517904"/>
            <a:ext cx="199339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Accuracy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50592" y="804672"/>
            <a:ext cx="1993392" cy="10972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50592" y="804672"/>
            <a:ext cx="199339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0.88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50592" y="1517904"/>
            <a:ext cx="199339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F1 Score TB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26864" y="804672"/>
            <a:ext cx="1993392" cy="10972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804672"/>
            <a:ext cx="199339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626864" y="1517904"/>
            <a:ext cx="199339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ROC AUC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03136" y="804672"/>
            <a:ext cx="1993392" cy="109728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03136" y="804672"/>
            <a:ext cx="199339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0.91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803136" y="1517904"/>
            <a:ext cx="199339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2029968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Confusion Matrix (Validation Set)</a:t>
            </a:r>
            <a:endParaRPr lang="en-US" sz="13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377440"/>
            <a:ext cx="4114800" cy="25146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663440" y="2029968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F1-score theo từng nhãn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663440" y="242316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TAMBIET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035040" y="2514600"/>
            <a:ext cx="2194560" cy="2560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035040" y="2514600"/>
            <a:ext cx="2194560" cy="25603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21040" y="2423160"/>
            <a:ext cx="502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6A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1.00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663440" y="301752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XINCHAO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035040" y="3108960"/>
            <a:ext cx="2194560" cy="2560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035040" y="3108960"/>
            <a:ext cx="188732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21040" y="3017520"/>
            <a:ext cx="502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0.86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663440" y="361188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OK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035040" y="3703320"/>
            <a:ext cx="2194560" cy="2560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35040" y="3703320"/>
            <a:ext cx="1975104" cy="2560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321040" y="3611880"/>
            <a:ext cx="502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0.90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663440" y="420624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035040" y="4297680"/>
            <a:ext cx="2194560" cy="2560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035040" y="4297680"/>
            <a:ext cx="1821485" cy="2560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21040" y="4206240"/>
            <a:ext cx="502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A580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0.83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PHÂN TÍCH &amp; THẢO LUẬN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8595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822960"/>
            <a:ext cx="109728" cy="7498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96112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TAMBIET ✅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225296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Accuracy: 100%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91440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A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F1: 1.00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49040" y="987552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Cử chỉ đặc trưng, nhận diện hoàn hảo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719072"/>
            <a:ext cx="8595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1719072"/>
            <a:ext cx="10972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792224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XINCHAO ✅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212140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Accuracy: 100%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51760" y="1810512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F1: 0.86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49040" y="1883664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Tốt, một số mẫu NO bị nhầm sang nhãn này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615184"/>
            <a:ext cx="8595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2615184"/>
            <a:ext cx="109728" cy="7498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688336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OK ⚠️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301752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Accuracy: 81.8%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51760" y="2706624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F1: 0.90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749040" y="2779776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18.2% bị nhầm sang XINCHAO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511296"/>
            <a:ext cx="8595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320" y="3511296"/>
            <a:ext cx="109728" cy="74980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58444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⚠️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2920" y="391363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Accuracy: 71.4%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651760" y="3602736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580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F1: 0.83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749040" y="3675888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28.6% bị nhầm sang XINCHAO – lỗi chính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74320" y="4526280"/>
            <a:ext cx="8595360" cy="475488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52628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 Nguyên nhân lỗi chính: NO và XINCHAO đều là bàn tay mở → hình dạng tương tự. Cần thu thêm mẫu NO đa dạng góc độ hơn để cải thiện.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DEMO THỜI GIAN THỰC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99339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86968"/>
            <a:ext cx="1993392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🔨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1508760"/>
            <a:ext cx="199339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Build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856232"/>
            <a:ext cx="181051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Deployment → WebAssembly → Build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67712" y="1572768"/>
            <a:ext cx="18288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0592" y="822960"/>
            <a:ext cx="199339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50592" y="886968"/>
            <a:ext cx="1993392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450592" y="1508760"/>
            <a:ext cx="199339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Launch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42032" y="1856232"/>
            <a:ext cx="181051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Launch in Browser → webcam access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43984" y="1572768"/>
            <a:ext cx="18288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26864" y="822960"/>
            <a:ext cx="199339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886968"/>
            <a:ext cx="1993392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🖐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626864" y="1508760"/>
            <a:ext cx="199339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18304" y="1856232"/>
            <a:ext cx="181051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Thực hiện 4 gesture trước camera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20256" y="1572768"/>
            <a:ext cx="18288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03136" y="822960"/>
            <a:ext cx="199339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03136" y="886968"/>
            <a:ext cx="1993392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📹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803136" y="1508760"/>
            <a:ext cx="199339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Record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94576" y="1856232"/>
            <a:ext cx="181051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Quay video demo màn hình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2606040"/>
            <a:ext cx="859536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2606040"/>
            <a:ext cx="832104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🔗  Project Edge Impulse: https://studio.edgeimpulse.com/studio/1013348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74320" y="3337560"/>
            <a:ext cx="8595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3337560"/>
            <a:ext cx="85953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337560"/>
            <a:ext cx="83210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Kết quả kiểm thử realtime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3749040"/>
            <a:ext cx="832104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Mô hình nhận diện được cả 4 cử chỉ trong điều kiện thời gian thực qua webcam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Hoạt động ổn định nhất với TAMBIET và XINCHAO (F1 = 1.00 và 0.86)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Cử chỉ NO đôi khi cần thực hiện rõ ràng hơn để model nhận diện chính xác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274320" y="4919472"/>
            <a:ext cx="8595360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[Sinh viên chèn ảnh chụp màn hình demo tại đây]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>
            <a:endParaRPr lang="en-US" altLang="en-US">
              <a:solidFill>
                <a:schemeClr val="bg1"/>
              </a:solidFill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143510" y="127635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vi-VN" alt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VIDEO DEMO BRO</a:t>
            </a:r>
            <a:r>
              <a:rPr lang="vi-VN" alt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WSER</a:t>
            </a:r>
            <a:endParaRPr lang="vi-VN" altLang="en-US" sz="2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pic>
        <p:nvPicPr>
          <p:cNvPr id="7" name="Đang ghi 2026-05-29 011015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685800"/>
            <a:ext cx="9144000" cy="44577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KẾT LUẬN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Đã đạt được: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32004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18872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13232" y="1216152"/>
            <a:ext cx="8138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Accuracy 87.5% và F1 = 0.88 – vượt yêu cầu ≥ 0.85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74320" y="1755648"/>
            <a:ext cx="32004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755648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13232" y="1783080"/>
            <a:ext cx="8138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Xây dựng thành công pipeline TinyML end-to-end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74320" y="2322576"/>
            <a:ext cx="32004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322576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3232" y="2350008"/>
            <a:ext cx="8138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Triển khai WebAssembly, kiểm thử realtime trên trình duyệt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74320" y="2889504"/>
            <a:ext cx="32004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2889504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3232" y="2916936"/>
            <a:ext cx="8138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Nắm được quy trình phát triển ứng dụng Edge AI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74320" y="3520440"/>
            <a:ext cx="41148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Hướng phát triển: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913632"/>
            <a:ext cx="83210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 Mở rộng thêm cử chỉ: ngôn ngữ ký hiệu, số đếm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297680"/>
            <a:ext cx="83210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 Thu thập dữ liệu đa người dùng, đa điều kiện ánh sáng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681728"/>
            <a:ext cx="83210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 Triển khai lên phần cứng thực tế: Arduino Nano 33 BLE Sense, Raspberry Pi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TÀI LIỆU THAM KHẢO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868680"/>
            <a:ext cx="73152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41832"/>
            <a:ext cx="83210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[1] Edge Impulse Inc., "Edge Impulse Documentation", 2024. https://docs.edgeimpulse.com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645920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645920"/>
            <a:ext cx="73152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719072"/>
            <a:ext cx="83210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[2] M. Sandler et al., "MobileNetV2: Inverted Residuals and Linear Bottlenecks", CVPR 2018, pp. 4510–4520.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423160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2423160"/>
            <a:ext cx="73152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496312"/>
            <a:ext cx="83210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[3] P. Warden and D. Situnayake, "TinyML: Machine Learning with TensorFlow Lite on Arduino and Ultra-Low-Power Microcontrollers", O'Reilly Media, 2019.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200400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" y="3200400"/>
            <a:ext cx="73152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273552"/>
            <a:ext cx="83210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[4] Edge Impulse Inc., "FOMO: Faster Objects, More Objects in Embedded ML", 2022. https://docs.edgeimpulse.com/docs/fomo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977640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3977640"/>
            <a:ext cx="73152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050792"/>
            <a:ext cx="83210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[5] V. J. Reddi et al., "MLPerf Inference Benchmark", ISCA 2020.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CẢM ƠN THẦY</a:t>
            </a:r>
            <a:endParaRPr lang="en-US" sz="44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ĐÃ </a:t>
            </a:r>
            <a:r>
              <a:rPr lang="vi-VN" altLang="en-US" sz="4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XEM</a:t>
            </a:r>
            <a:r>
              <a:rPr lang="en-US" sz="4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!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2286000" y="3063240"/>
            <a:ext cx="4572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246120"/>
            <a:ext cx="82296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Phạm An Dũng  |  N23DCCI018  |  D23CQCI01-N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8229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GVHD: Hồ Nhựt Minh  |  Mạng Cảm Biến – HK2 202</a:t>
            </a:r>
            <a:r>
              <a:rPr lang="vi-VN" alt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r>
              <a:rPr 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-202</a:t>
            </a:r>
            <a:r>
              <a:rPr lang="vi-VN" alt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vi-VN" altLang="en-US" sz="1300" dirty="0">
              <a:solidFill>
                <a:srgbClr val="64748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🔗 https://studio.edgeimpulse.com/studio/1013348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4986</Words>
  <Application>WPS Presentation</Application>
  <PresentationFormat>On-screen Show (16:9)</PresentationFormat>
  <Paragraphs>427</Paragraphs>
  <Slides>14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3" baseType="lpstr">
      <vt:lpstr>Arial</vt:lpstr>
      <vt:lpstr>SimSun</vt:lpstr>
      <vt:lpstr>Wingdings</vt:lpstr>
      <vt:lpstr>Calibri</vt:lpstr>
      <vt:lpstr>Calibri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Nhận Diện Cử Chỉ Chào Xã Giao - Edge Impulse FOMO</dc:title>
  <dc:creator>Phạm An Dũng</dc:creator>
  <dc:subject>PptxGenJS Presentation</dc:subject>
  <cp:lastModifiedBy>Dũng Phạm An</cp:lastModifiedBy>
  <cp:revision>4</cp:revision>
  <dcterms:created xsi:type="dcterms:W3CDTF">2026-06-05T04:35:00Z</dcterms:created>
  <dcterms:modified xsi:type="dcterms:W3CDTF">2026-06-05T09:15:10Z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BAC9E09A5AFB4839849D906E93EEFD1A_13</vt:lpwstr>
  </property>
</Properties>
</file>